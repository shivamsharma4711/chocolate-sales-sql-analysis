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D4622A">
              <a:alpha val="15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F4A460">
              <a:alpha val="10000"/>
            </a:srgbClr>
          </a:solidFill>
          <a:ln w="12700">
            <a:solidFill>
              <a:srgbClr val="F4A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🍫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Chocolate Sales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325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Project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36576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•  pgAdmin 4  •  Advanced SQL Queries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17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017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017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49,999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926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30175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31,695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Shivam Sharma  |  github.com/Shivamsharma4711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Used in This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34747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order_date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product_id, store_id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 revenue, profit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651760" cy="34747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161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5727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brand, category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651760" cy="34747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161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57276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store_type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974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97480"/>
            <a:ext cx="2651760" cy="34747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249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08152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city, country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97480"/>
            <a:ext cx="2651760" cy="34747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7249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08152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date, month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year, quarter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*_id fields   |   Joins: orders is the central fact table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of Each Store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+ GROUP BY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o.store_id, s.store_name,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SUM(o.revenue) AS total_revenue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stores s JOIN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s.store_id = o.store_id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o.store_id, s.store_name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SUM(o.revenue) DESC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14,824.47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S096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14,343.48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14,317.58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14,266.95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S090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14,090.74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SUM() + JOIN across orders &amp; stores tables. ORDER BY DESC shows top stores. 100 total stores.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Profit Per Product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+ ROUND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p.product_id, p.product_name,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ROUND(AVG(o.profit),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avg_profit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p.product_id = o.product_id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p.product_id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p.product_name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 50%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 50%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 50%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 50%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 50%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AVG() with ROUND(,2) gives clean 2-decimal results. JOIN needed to get product_name from products table. 200 rows.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Customers Who Placed Orders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DISTINCT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COUNT(DISTINCT customer_id)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315468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60720" y="1298448"/>
            <a:ext cx="315468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2984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31,695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COUNT(DISTINCT) removes duplicates — each customer counted once regardless of how many orders they placed.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Order Count in 2023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JOIN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c.month,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COUNT(o.order_id) AS order_count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calendar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o.order_date = c.date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c.year = '2023'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c.month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2,083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Calendar table used as dimension table. WHERE filters year = 2023. Useful for time-series trend analysis. 12 rows.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Profit Per Brand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+ GROUP BY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p.brand,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SUM(o.profit) AS total_profit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p.product_id = o.product_id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p.brand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total_profit DESC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96,816.90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95,156.81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88,323.84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83,709.61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76,131.64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Brand-level profitability analysis. Brand C leads at 96K+ profit. Used for strategic product decisions. 6 brands.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Revenue — Running Total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Fn: SUM OVER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order_date,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revenue,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SUM(revenue) OVER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order_date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BETWEEN UNBOUNDED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PRECEDING AND CURRENT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running_total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0RD...6621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0RD...6741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0RD...8239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0RD...2567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115.93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SUM() OVER() is a Window Function — calculates running total without collapsing rows (unlike GROUP BY). 49,999 rows.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Orders by Revenue Within Product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PARTITION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product_id,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revenue,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product_id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revenue DESC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revenue_rank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4939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939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3806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806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2673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673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0RD..6318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4939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939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P0001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3806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806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2673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2673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0RD..9899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4939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939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P0001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3806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806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2673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673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0RD..6305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4939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939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P0001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3806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806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2673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2673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0RD..1706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4939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4939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P0001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3806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3806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673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2673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PARTITION BY resets rank per product. RANK() handles ties. Use ROW_NUMBER() for unique sequential rank.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Above Average Revenue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revenue &gt;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ROUND(AVG(revenue),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0RD00000001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2023-01-07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P0080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0RD00000002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2023-10-22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P0173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0RD00000004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2024-06-23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P0186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0RD00000006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2024-03-29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P0160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Subquery in WHERE clause. Inner query calculates avg first, outer query filters. 21,095 rows = 42% of all orders.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Profitable Order Per Store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ON (store_id)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store_id, order_id,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MAX(profit)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store_id, order_id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store_id, profit DESC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Profit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0RD00046967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0RD00017162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0RD00033633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0RD00023381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DISTINCT ON is PostgreSQL-specific — picks first row per store_id. ORDER BY profit DESC ensures max profit comes first.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Order Date Per Customer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on Date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MIN(order_date) AS first_order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C022758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2023-07-17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C004349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2023-10-08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C045541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2023-07-10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C034851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2023-02-05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C048634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8060" y="232257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2023-04-23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MIN() on date column = earliest date. Used for customer lifecycle analysis, cohort analysis. 31,695 customers.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Revenue Rank using CTE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Window Fn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brand_revenue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p.brand,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SUM(o.revenue) AS total_revenue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products 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p.product_id = o.product_id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p.brand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 RANK() OVER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(ORDER BY total_revenue DESC)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brand_rank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brand_revenue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242,276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237,732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220,426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209,387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0" y="2322576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12280" y="2322576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190,319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863840" y="2322576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CTE (WITH clause) pre-aggregates data, then RANK() Window Function applied on top. Clean, readable, reusable code.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 Orders by Profit (CASE WHEN)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profit,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profit &lt;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'Low_profit'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profit BETWEEN 10 AND 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'medium_profit'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'High_profit'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profit_categories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0RD..0001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medium_profit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0RD..0002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medium_profit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0RD..0003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Low_profit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0RD..0005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Low_profit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CASE WHEN = IF-ELSE in SQL. Creates dynamic categories for profit segmentation and business reporting. 49,999 rows.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NOT Yet Ordered (LEFT JOIN + IS NULL)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+ IS NULL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p.product_id, p.product_name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p.product_id = o.product_id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o.order_id IS NULL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(empty)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results — all ordered!)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LEFT JOIN keeps ALL products. WHERE IS NULL filters to those with NO orders. Result: 0 rows = all products ordered!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Month-by-Month Revenue Growth (LAG)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+ CTE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monthly_sum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DATE_TRUNC('MONTH', order_date)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months,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SUM(revenue) AS monthwise_rev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GROUP BY 1 ORDER BY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LAG(monthwise_rev) OVER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(ORDER BY months) AS prev_month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monthly_sum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24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Month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54,731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12984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49,827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5544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54,731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54,156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49,827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51,406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54,156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LAG() fetches previous row's value — perfect for Month-over-Month growth. DATE_TRUNC groups by month. 24 months total.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Revenue Products Per Category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ROW_NUMBER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cte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p.category, p.product_name,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SUM(o.revenue) AS total_rev,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p.category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SUM(o.revenue) DESC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products p JOIN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p.product_id = o.product_id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p.category, p.product_name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cte WHERE rn &lt;= 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4939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939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3806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806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26730" y="1024128"/>
            <a:ext cx="78867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6730" y="102412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4939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939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Choc 90%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3806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806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26,247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26730" y="1298448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26730" y="1298448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4939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939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 Choc 8..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3806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806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25,224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26730" y="1554480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6730" y="1554480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6072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4939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939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 Choc 5..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3806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806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24,991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26730" y="1810512"/>
            <a:ext cx="78867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26730" y="1810512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4939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4939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Choc 70%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3806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3806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42,834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26730" y="2066544"/>
            <a:ext cx="78867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26730" y="2066544"/>
            <a:ext cx="78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CTE + ROW_NUMBER() with PARTITION BY = classic Top-N per group pattern. Very common in analytics interviews! 15 rows.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331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Profitable Store Type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1887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49808"/>
            <a:ext cx="4892040" cy="2286000"/>
          </a:xfrm>
          <a:prstGeom prst="roundRect">
            <a:avLst>
              <a:gd name="adj" fmla="val 4000"/>
            </a:avLst>
          </a:prstGeom>
          <a:solidFill>
            <a:srgbClr val="0D06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046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s.store_type,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SUM(o.profit) AS Total_profit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stores 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o.store_id = s.store_id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s.store_type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Total_profit DESC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749808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0E00"/>
          </a:solidFill>
          <a:ln w="12700">
            <a:solidFill>
              <a:srgbClr val="A078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8046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0" y="102412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8060" y="1298448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152,018.88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8060" y="155448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131,166.67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solidFill>
            <a:srgbClr val="1E0E00"/>
          </a:solidFill>
          <a:ln w="12700">
            <a:solidFill>
              <a:srgbClr val="1E0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8060" y="181051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128,532.68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solidFill>
            <a:srgbClr val="281200"/>
          </a:solidFill>
          <a:ln w="12700">
            <a:solidFill>
              <a:srgbClr val="281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8060" y="206654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98,221.44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15468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2D1400"/>
          </a:solidFill>
          <a:ln w="12700">
            <a:solidFill>
              <a:srgbClr val="A078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200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Airport stores most profitable! Premium pricing possible. Airport (152K) &gt; Mall (131K) &gt; Online (128K) &gt; Retail (98K).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D4622A">
              <a:alpha val="12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Sales Database  —  PostgreSQL / pgAdmin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JOIN, LEFT JOIN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related tables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32588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3258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69080" y="1325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AVG, 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ROUND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32588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3258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49440" y="1325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737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ROW_NUMBER,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LAG, SUM 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88036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291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clause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reusable queries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274320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88036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803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6908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3291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WHERE clause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74320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2D1400"/>
          </a:solidFill>
          <a:ln w="12700">
            <a:solidFill>
              <a:srgbClr val="D46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288036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D4622A">
              <a:alpha val="80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8803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2918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DATE_TRUNC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MIN(date)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48056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D4622A">
              <a:alpha val="85000"/>
            </a:srgbClr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github.com/Shivamsharma4711/Data-Analytics-Portfolio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Chocolate Sales SQL Analysis</dc:title>
  <dc:subject>PptxGenJS Presentation</dc:subject>
  <dc:creator>PptxGenJS</dc:creator>
  <cp:lastModifiedBy>PptxGenJS</cp:lastModifiedBy>
  <cp:revision>1</cp:revision>
  <dcterms:created xsi:type="dcterms:W3CDTF">2026-06-13T15:56:39Z</dcterms:created>
  <dcterms:modified xsi:type="dcterms:W3CDTF">2026-06-13T15:56:39Z</dcterms:modified>
</cp:coreProperties>
</file>